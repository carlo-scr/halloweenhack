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9" r:id="rId2"/>
    <p:sldId id="256" r:id="rId3"/>
    <p:sldId id="257" r:id="rId4"/>
    <p:sldId id="258" r:id="rId5"/>
    <p:sldId id="259" r:id="rId6"/>
    <p:sldId id="260" r:id="rId7"/>
    <p:sldId id="261" r:id="rId8"/>
    <p:sldId id="262" r:id="rId9"/>
    <p:sldId id="263" r:id="rId10"/>
    <p:sldId id="264" r:id="rId11"/>
    <p:sldId id="265" r:id="rId12"/>
    <p:sldId id="266" r:id="rId13"/>
    <p:sldId id="270" r:id="rId14"/>
    <p:sldId id="267" r:id="rId15"/>
    <p:sldId id="272" r:id="rId16"/>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85"/>
  </p:normalViewPr>
  <p:slideViewPr>
    <p:cSldViewPr snapToGrid="0">
      <p:cViewPr varScale="1">
        <p:scale>
          <a:sx n="95" d="100"/>
          <a:sy n="95" d="100"/>
        </p:scale>
        <p:origin x="200" y="6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127577-7674-AF4A-A5BA-771E734924F1}" type="datetimeFigureOut">
              <a:rPr lang="en-DE" smtClean="0"/>
              <a:t>01.11.25</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B9BBF2-D992-CC4C-8DF8-88F28A7A6661}" type="slidenum">
              <a:rPr lang="en-DE" smtClean="0"/>
              <a:t>‹#›</a:t>
            </a:fld>
            <a:endParaRPr lang="en-DE"/>
          </a:p>
        </p:txBody>
      </p:sp>
    </p:spTree>
    <p:extLst>
      <p:ext uri="{BB962C8B-B14F-4D97-AF65-F5344CB8AC3E}">
        <p14:creationId xmlns:p14="http://schemas.microsoft.com/office/powerpoint/2010/main" val="715833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A3B9BBF2-D992-CC4C-8DF8-88F28A7A6661}" type="slidenum">
              <a:rPr lang="en-DE" smtClean="0"/>
              <a:t>8</a:t>
            </a:fld>
            <a:endParaRPr lang="en-DE"/>
          </a:p>
        </p:txBody>
      </p:sp>
    </p:spTree>
    <p:extLst>
      <p:ext uri="{BB962C8B-B14F-4D97-AF65-F5344CB8AC3E}">
        <p14:creationId xmlns:p14="http://schemas.microsoft.com/office/powerpoint/2010/main" val="4041548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A3B9BBF2-D992-CC4C-8DF8-88F28A7A6661}" type="slidenum">
              <a:rPr lang="en-DE" smtClean="0"/>
              <a:t>10</a:t>
            </a:fld>
            <a:endParaRPr lang="en-DE"/>
          </a:p>
        </p:txBody>
      </p:sp>
    </p:spTree>
    <p:extLst>
      <p:ext uri="{BB962C8B-B14F-4D97-AF65-F5344CB8AC3E}">
        <p14:creationId xmlns:p14="http://schemas.microsoft.com/office/powerpoint/2010/main" val="3269853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3D197-1299-E17A-2B78-172F351CDFC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54C983A4-90A5-4D97-C03E-6D84E47243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0476246C-DF0E-CE37-3B29-E5DD8ABB2F43}"/>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5" name="Footer Placeholder 4">
            <a:extLst>
              <a:ext uri="{FF2B5EF4-FFF2-40B4-BE49-F238E27FC236}">
                <a16:creationId xmlns:a16="http://schemas.microsoft.com/office/drawing/2014/main" id="{EC150B09-103A-D353-B748-EEA050F0898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388BBD62-F601-E338-6013-23284114F129}"/>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1759318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73B49-C127-FDD3-6964-E59A3A7B79DC}"/>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AB6F6B3B-4CE8-7312-AA49-16D48814578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8606B884-65DA-E1C8-4C39-D713A0326BE9}"/>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5" name="Footer Placeholder 4">
            <a:extLst>
              <a:ext uri="{FF2B5EF4-FFF2-40B4-BE49-F238E27FC236}">
                <a16:creationId xmlns:a16="http://schemas.microsoft.com/office/drawing/2014/main" id="{0813F54D-1C5C-1727-50EE-5554DF55E405}"/>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C8599312-2E4F-9072-2BD9-E8ECAE5C913E}"/>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347764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5885D-ECD5-35C7-0C9D-3EE6C0C5E74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C90B00CB-A64A-5212-E0BD-E580341271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15DB99E-3161-DD07-796D-066B3112FFD3}"/>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5" name="Footer Placeholder 4">
            <a:extLst>
              <a:ext uri="{FF2B5EF4-FFF2-40B4-BE49-F238E27FC236}">
                <a16:creationId xmlns:a16="http://schemas.microsoft.com/office/drawing/2014/main" id="{87352746-4AC6-50BD-F3C3-7392346990A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FEDEA15B-DE6B-4ED8-A8EB-C421062EE5E3}"/>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734211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DA6AC-E179-D016-68E6-FAA14A44D14F}"/>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AC8D2F5C-1CA4-98CF-FC53-FAA92186961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AB747053-0AA3-DE66-7411-49E01ADC93E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F1B84420-81D7-F874-2798-757522957574}"/>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6" name="Footer Placeholder 5">
            <a:extLst>
              <a:ext uri="{FF2B5EF4-FFF2-40B4-BE49-F238E27FC236}">
                <a16:creationId xmlns:a16="http://schemas.microsoft.com/office/drawing/2014/main" id="{4D7D3B11-2690-1370-0CFB-F99BE4821286}"/>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818E349B-820D-8003-DDC4-E9074F8A57A4}"/>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1891531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F211-9D2B-CBDB-753F-BE7C99F964EE}"/>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DD2A86D7-5D55-FD11-188D-1134BBFEB2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4B813F0-EDD5-A2FF-CB6A-B60D8FBEBC5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8AA82E9B-77B9-E488-9BC7-73EC5D5321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D008EE2-CAE8-F8DC-4E90-AFD8021526F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38490028-5E1E-6135-F4DC-2164278D81E3}"/>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8" name="Footer Placeholder 7">
            <a:extLst>
              <a:ext uri="{FF2B5EF4-FFF2-40B4-BE49-F238E27FC236}">
                <a16:creationId xmlns:a16="http://schemas.microsoft.com/office/drawing/2014/main" id="{DB6BCE53-8261-258F-49D7-F19630EADACE}"/>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FCFCF6B9-3EAC-7217-1AEB-049DAC9BA9DF}"/>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3921016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5AAAD-F4DE-75C1-9A86-7A41EB73FCCD}"/>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FE11BB18-6B50-9C5A-8C13-F392B87DD9FD}"/>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4" name="Footer Placeholder 3">
            <a:extLst>
              <a:ext uri="{FF2B5EF4-FFF2-40B4-BE49-F238E27FC236}">
                <a16:creationId xmlns:a16="http://schemas.microsoft.com/office/drawing/2014/main" id="{56CF0510-613F-A7A2-DE47-E2EAC563D424}"/>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2AA93430-457A-64E9-AE5F-EC1CE91F90BB}"/>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2416901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E9F3D2-4235-B506-9B4E-63AC7925BBCD}"/>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3" name="Footer Placeholder 2">
            <a:extLst>
              <a:ext uri="{FF2B5EF4-FFF2-40B4-BE49-F238E27FC236}">
                <a16:creationId xmlns:a16="http://schemas.microsoft.com/office/drawing/2014/main" id="{39FCA3DA-E75F-F06C-E793-039A188DA09F}"/>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97FDC3BB-2BE3-2BB4-A186-7CB6F0E9CF30}"/>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2510931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67466-D984-CBCB-ADB5-2FC4763B920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015672F1-3E99-7EC3-65B1-2332218FD9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86D1CF08-FE93-EFD5-9F1A-C00A9ABA6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29E1E76-E4D7-0C16-D5E2-61D5468179DD}"/>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6" name="Footer Placeholder 5">
            <a:extLst>
              <a:ext uri="{FF2B5EF4-FFF2-40B4-BE49-F238E27FC236}">
                <a16:creationId xmlns:a16="http://schemas.microsoft.com/office/drawing/2014/main" id="{D6C289B0-6E44-E010-5D2D-EED3ADEC5057}"/>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E3868631-00E4-2A9A-0ED0-7E89372EE564}"/>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801076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68958-1A30-025C-1A90-14E4322E9EF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A1DAC1BA-C1A1-9E68-CBBB-D3029F9882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0E65ECDA-9521-759E-9C65-D2C3BBED22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90577AA-69EE-53BA-4694-DF6C3F61B80A}"/>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6" name="Footer Placeholder 5">
            <a:extLst>
              <a:ext uri="{FF2B5EF4-FFF2-40B4-BE49-F238E27FC236}">
                <a16:creationId xmlns:a16="http://schemas.microsoft.com/office/drawing/2014/main" id="{62940B4C-B23A-BAF7-6F6D-11407F51C651}"/>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DCF22222-FADD-C290-6039-5B23753DCA60}"/>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959027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EA9C1-28D2-E648-8546-3E88759901F2}"/>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6530649C-A57E-F733-7A4F-78C9A6874F1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90C220BD-0C2A-979E-9B87-C5F4071D72A3}"/>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5" name="Footer Placeholder 4">
            <a:extLst>
              <a:ext uri="{FF2B5EF4-FFF2-40B4-BE49-F238E27FC236}">
                <a16:creationId xmlns:a16="http://schemas.microsoft.com/office/drawing/2014/main" id="{B34B21FD-9C25-DB7A-E8EA-E93C3A275B4D}"/>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3B13A5F1-4A8A-D5A9-F51F-35D0893F7CB4}"/>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1311783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B90180-D28B-4A50-AC7D-66E8A1A103D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82786C1B-53B3-89E0-3889-33009ABE4D3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F5DCBBE7-EF7D-E046-B1E4-9AAA3B88A16C}"/>
              </a:ext>
            </a:extLst>
          </p:cNvPr>
          <p:cNvSpPr>
            <a:spLocks noGrp="1"/>
          </p:cNvSpPr>
          <p:nvPr>
            <p:ph type="dt" sz="half" idx="10"/>
          </p:nvPr>
        </p:nvSpPr>
        <p:spPr/>
        <p:txBody>
          <a:bodyPr/>
          <a:lstStyle/>
          <a:p>
            <a:fld id="{C1D6B376-531C-B74C-BBC6-51D54F668530}" type="datetimeFigureOut">
              <a:rPr lang="en-DE" smtClean="0"/>
              <a:t>01.11.25</a:t>
            </a:fld>
            <a:endParaRPr lang="en-DE"/>
          </a:p>
        </p:txBody>
      </p:sp>
      <p:sp>
        <p:nvSpPr>
          <p:cNvPr id="5" name="Footer Placeholder 4">
            <a:extLst>
              <a:ext uri="{FF2B5EF4-FFF2-40B4-BE49-F238E27FC236}">
                <a16:creationId xmlns:a16="http://schemas.microsoft.com/office/drawing/2014/main" id="{529421E1-CBE5-1B27-8985-E4403C94B750}"/>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AAE0B8B-7995-C445-2C0D-5FAEF86FA02F}"/>
              </a:ext>
            </a:extLst>
          </p:cNvPr>
          <p:cNvSpPr>
            <a:spLocks noGrp="1"/>
          </p:cNvSpPr>
          <p:nvPr>
            <p:ph type="sldNum" sz="quarter" idx="12"/>
          </p:nvPr>
        </p:nvSpPr>
        <p:spPr/>
        <p:txBody>
          <a:bodyPr/>
          <a:lstStyle/>
          <a:p>
            <a:fld id="{A73159ED-5E3B-6146-BC3B-BBFD74CB431C}" type="slidenum">
              <a:rPr lang="en-DE" smtClean="0"/>
              <a:t>‹#›</a:t>
            </a:fld>
            <a:endParaRPr lang="en-DE"/>
          </a:p>
        </p:txBody>
      </p:sp>
    </p:spTree>
    <p:extLst>
      <p:ext uri="{BB962C8B-B14F-4D97-AF65-F5344CB8AC3E}">
        <p14:creationId xmlns:p14="http://schemas.microsoft.com/office/powerpoint/2010/main" val="893460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5601FC-3BA5-E42D-E7D4-CDE86A3829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E5D409B2-04AE-A882-840D-A185FAA54C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8192D55E-0EA2-4BAE-74F6-75543989DD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D6B376-531C-B74C-BBC6-51D54F668530}" type="datetimeFigureOut">
              <a:rPr lang="en-DE" smtClean="0"/>
              <a:t>01.11.25</a:t>
            </a:fld>
            <a:endParaRPr lang="en-DE"/>
          </a:p>
        </p:txBody>
      </p:sp>
      <p:sp>
        <p:nvSpPr>
          <p:cNvPr id="5" name="Footer Placeholder 4">
            <a:extLst>
              <a:ext uri="{FF2B5EF4-FFF2-40B4-BE49-F238E27FC236}">
                <a16:creationId xmlns:a16="http://schemas.microsoft.com/office/drawing/2014/main" id="{F2EF76EB-2746-F3DE-8E64-992074DA89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11C0535C-6DDD-FAA1-B8ED-2CCF6203F2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3159ED-5E3B-6146-BC3B-BBFD74CB431C}" type="slidenum">
              <a:rPr lang="en-DE" smtClean="0"/>
              <a:t>‹#›</a:t>
            </a:fld>
            <a:endParaRPr lang="en-DE"/>
          </a:p>
        </p:txBody>
      </p:sp>
    </p:spTree>
    <p:extLst>
      <p:ext uri="{BB962C8B-B14F-4D97-AF65-F5344CB8AC3E}">
        <p14:creationId xmlns:p14="http://schemas.microsoft.com/office/powerpoint/2010/main" val="34352702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88EE-A076-B49C-D908-A0D010E3B296}"/>
              </a:ext>
            </a:extLst>
          </p:cNvPr>
          <p:cNvSpPr>
            <a:spLocks noGrp="1"/>
          </p:cNvSpPr>
          <p:nvPr>
            <p:ph type="ctrTitle"/>
          </p:nvPr>
        </p:nvSpPr>
        <p:spPr/>
        <p:txBody>
          <a:bodyPr/>
          <a:lstStyle/>
          <a:p>
            <a:r>
              <a:rPr lang="en-DE" b="1" u="sng" dirty="0">
                <a:latin typeface="Andale Mono" panose="020B0509000000000004" pitchFamily="49" charset="0"/>
              </a:rPr>
              <a:t>Agentic Syndicate</a:t>
            </a:r>
          </a:p>
        </p:txBody>
      </p:sp>
      <p:sp>
        <p:nvSpPr>
          <p:cNvPr id="3" name="Subtitle 2">
            <a:extLst>
              <a:ext uri="{FF2B5EF4-FFF2-40B4-BE49-F238E27FC236}">
                <a16:creationId xmlns:a16="http://schemas.microsoft.com/office/drawing/2014/main" id="{10610043-B735-3122-CA23-18321ED8DF60}"/>
              </a:ext>
            </a:extLst>
          </p:cNvPr>
          <p:cNvSpPr>
            <a:spLocks noGrp="1"/>
          </p:cNvSpPr>
          <p:nvPr>
            <p:ph type="subTitle" idx="1"/>
          </p:nvPr>
        </p:nvSpPr>
        <p:spPr/>
        <p:txBody>
          <a:bodyPr/>
          <a:lstStyle/>
          <a:p>
            <a:endParaRPr lang="en-DE"/>
          </a:p>
        </p:txBody>
      </p:sp>
      <p:pic>
        <p:nvPicPr>
          <p:cNvPr id="4098" name="Picture 2" descr="Ria — Oooooo thank you @junquisite 🥰 Your most recent...">
            <a:extLst>
              <a:ext uri="{FF2B5EF4-FFF2-40B4-BE49-F238E27FC236}">
                <a16:creationId xmlns:a16="http://schemas.microsoft.com/office/drawing/2014/main" id="{9569D719-D96A-CA2D-B9EB-D8D807243D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7410" y="3649269"/>
            <a:ext cx="4957178" cy="2908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8974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296C2-4B36-D34E-6B69-D89B56B249D0}"/>
              </a:ext>
            </a:extLst>
          </p:cNvPr>
          <p:cNvSpPr>
            <a:spLocks noGrp="1"/>
          </p:cNvSpPr>
          <p:nvPr>
            <p:ph type="ctrTitle"/>
          </p:nvPr>
        </p:nvSpPr>
        <p:spPr/>
        <p:txBody>
          <a:bodyPr>
            <a:normAutofit fontScale="90000"/>
          </a:bodyPr>
          <a:lstStyle/>
          <a:p>
            <a:r>
              <a:rPr lang="en-DE" dirty="0">
                <a:latin typeface="Al Nile" pitchFamily="2" charset="-78"/>
                <a:cs typeface="Al Nile" pitchFamily="2" charset="-78"/>
              </a:rPr>
              <a:t>The first quantitative trading firm for polymarket 🇸🇳</a:t>
            </a:r>
          </a:p>
        </p:txBody>
      </p:sp>
      <p:sp>
        <p:nvSpPr>
          <p:cNvPr id="3" name="Subtitle 2">
            <a:extLst>
              <a:ext uri="{FF2B5EF4-FFF2-40B4-BE49-F238E27FC236}">
                <a16:creationId xmlns:a16="http://schemas.microsoft.com/office/drawing/2014/main" id="{D06A5E03-6306-6416-1CBE-7D6BE5B65A9E}"/>
              </a:ext>
            </a:extLst>
          </p:cNvPr>
          <p:cNvSpPr>
            <a:spLocks noGrp="1"/>
          </p:cNvSpPr>
          <p:nvPr>
            <p:ph type="subTitle" idx="1"/>
          </p:nvPr>
        </p:nvSpPr>
        <p:spPr/>
        <p:txBody>
          <a:bodyPr/>
          <a:lstStyle/>
          <a:p>
            <a:r>
              <a:rPr lang="en-DE" dirty="0"/>
              <a:t>🇸🇳 🇸🇳 🇸🇳</a:t>
            </a:r>
          </a:p>
          <a:p>
            <a:r>
              <a:rPr lang="en-DE" dirty="0"/>
              <a:t>Senegal-gal-gal illegal scheiß egal-gal-gal Wuppertal</a:t>
            </a:r>
          </a:p>
        </p:txBody>
      </p:sp>
    </p:spTree>
    <p:extLst>
      <p:ext uri="{BB962C8B-B14F-4D97-AF65-F5344CB8AC3E}">
        <p14:creationId xmlns:p14="http://schemas.microsoft.com/office/powerpoint/2010/main" val="879998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FC42F-54E6-B204-77B9-F4EEFA305F51}"/>
              </a:ext>
            </a:extLst>
          </p:cNvPr>
          <p:cNvSpPr>
            <a:spLocks noGrp="1"/>
          </p:cNvSpPr>
          <p:nvPr>
            <p:ph type="title"/>
          </p:nvPr>
        </p:nvSpPr>
        <p:spPr/>
        <p:txBody>
          <a:bodyPr/>
          <a:lstStyle/>
          <a:p>
            <a:pPr algn="ctr"/>
            <a:r>
              <a:rPr lang="en-DE" dirty="0"/>
              <a:t>Idea</a:t>
            </a:r>
          </a:p>
        </p:txBody>
      </p:sp>
      <p:sp>
        <p:nvSpPr>
          <p:cNvPr id="3" name="Content Placeholder 2">
            <a:extLst>
              <a:ext uri="{FF2B5EF4-FFF2-40B4-BE49-F238E27FC236}">
                <a16:creationId xmlns:a16="http://schemas.microsoft.com/office/drawing/2014/main" id="{A2C0D831-7B3D-78B4-4049-27B912458C15}"/>
              </a:ext>
            </a:extLst>
          </p:cNvPr>
          <p:cNvSpPr>
            <a:spLocks noGrp="1"/>
          </p:cNvSpPr>
          <p:nvPr>
            <p:ph idx="1"/>
          </p:nvPr>
        </p:nvSpPr>
        <p:spPr/>
        <p:txBody>
          <a:bodyPr/>
          <a:lstStyle/>
          <a:p>
            <a:r>
              <a:rPr lang="en-DE" dirty="0"/>
              <a:t>Imagine a world where venture capital remains not a privilege to nerdy VC founders, no, it´s democratized! How do we do that? We enable those to launch, that previously didn´t stand a chance: beautiful women on social media, that don’t yet realize their potential to make bank on OnlyFans</a:t>
            </a:r>
          </a:p>
          <a:p>
            <a:r>
              <a:rPr lang="en-DE" dirty="0"/>
              <a:t>Update: two hours later, 3 bears later, and a little more sober, we realize this idea might be a bit controversial in wokeistan (aka San Francisco). Okayyy. So we do we do? Well, we love money, so we just change the industry.</a:t>
            </a:r>
          </a:p>
          <a:p>
            <a:r>
              <a:rPr lang="en-DE" dirty="0"/>
              <a:t>And what industry is more exciting than …</a:t>
            </a:r>
          </a:p>
        </p:txBody>
      </p:sp>
      <p:sp>
        <p:nvSpPr>
          <p:cNvPr id="4" name="Rectangle 3">
            <a:extLst>
              <a:ext uri="{FF2B5EF4-FFF2-40B4-BE49-F238E27FC236}">
                <a16:creationId xmlns:a16="http://schemas.microsoft.com/office/drawing/2014/main" id="{7A2D330D-7880-E762-A8AE-54AF44D4FA47}"/>
              </a:ext>
            </a:extLst>
          </p:cNvPr>
          <p:cNvSpPr/>
          <p:nvPr/>
        </p:nvSpPr>
        <p:spPr>
          <a:xfrm>
            <a:off x="988541" y="3027405"/>
            <a:ext cx="10058400" cy="8155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4199662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grpId="0" nodeType="clickEffect">
                                  <p:stCondLst>
                                    <p:cond delay="0"/>
                                  </p:stCondLst>
                                  <p:childTnLst>
                                    <p:animEffect transition="out" filter="blinds(horizontal)">
                                      <p:cBhvr>
                                        <p:cTn id="10" dur="500"/>
                                        <p:tgtEl>
                                          <p:spTgt spid="4"/>
                                        </p:tgtEl>
                                      </p:cBhvr>
                                    </p:animEffect>
                                    <p:set>
                                      <p:cBhvr>
                                        <p:cTn id="11" dur="1" fill="hold">
                                          <p:stCondLst>
                                            <p:cond delay="499"/>
                                          </p:stCondLst>
                                        </p:cTn>
                                        <p:tgtEl>
                                          <p:spTgt spid="4"/>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4E1BF-074F-8D2D-F436-7666F0F6E3D1}"/>
              </a:ext>
            </a:extLst>
          </p:cNvPr>
          <p:cNvSpPr>
            <a:spLocks noGrp="1"/>
          </p:cNvSpPr>
          <p:nvPr>
            <p:ph type="title"/>
          </p:nvPr>
        </p:nvSpPr>
        <p:spPr>
          <a:xfrm>
            <a:off x="838200" y="2441060"/>
            <a:ext cx="10515600" cy="1325563"/>
          </a:xfrm>
        </p:spPr>
        <p:txBody>
          <a:bodyPr>
            <a:normAutofit fontScale="90000"/>
          </a:bodyPr>
          <a:lstStyle/>
          <a:p>
            <a:pPr algn="ctr"/>
            <a:r>
              <a:rPr lang="en-DE" sz="9600" b="1" dirty="0"/>
              <a:t>BETTING</a:t>
            </a:r>
          </a:p>
        </p:txBody>
      </p:sp>
      <p:pic>
        <p:nvPicPr>
          <p:cNvPr id="1026" name="Picture 2" descr="10 Funny Gambling Memes That Are Sure to Make You Laugh">
            <a:extLst>
              <a:ext uri="{FF2B5EF4-FFF2-40B4-BE49-F238E27FC236}">
                <a16:creationId xmlns:a16="http://schemas.microsoft.com/office/drawing/2014/main" id="{44BDC0DB-0BB1-BEE9-ACE4-DF490EF2C4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0335" y="3294529"/>
            <a:ext cx="3091329" cy="30913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CH BIN REICH - Prinz Marcus on Make a GIF">
            <a:extLst>
              <a:ext uri="{FF2B5EF4-FFF2-40B4-BE49-F238E27FC236}">
                <a16:creationId xmlns:a16="http://schemas.microsoft.com/office/drawing/2014/main" id="{FD14A2A4-6892-7292-4934-9322D673B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8615" y="1386190"/>
            <a:ext cx="3053343" cy="3816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026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7C1CB-DFA9-BC10-79C0-E5647FD33C84}"/>
              </a:ext>
            </a:extLst>
          </p:cNvPr>
          <p:cNvSpPr>
            <a:spLocks noGrp="1"/>
          </p:cNvSpPr>
          <p:nvPr>
            <p:ph type="title"/>
          </p:nvPr>
        </p:nvSpPr>
        <p:spPr/>
        <p:txBody>
          <a:bodyPr/>
          <a:lstStyle/>
          <a:p>
            <a:pPr algn="ctr"/>
            <a:r>
              <a:rPr lang="en-DE" i="1" dirty="0"/>
              <a:t>Idea #2</a:t>
            </a:r>
          </a:p>
        </p:txBody>
      </p:sp>
      <p:sp>
        <p:nvSpPr>
          <p:cNvPr id="3" name="Content Placeholder 2">
            <a:extLst>
              <a:ext uri="{FF2B5EF4-FFF2-40B4-BE49-F238E27FC236}">
                <a16:creationId xmlns:a16="http://schemas.microsoft.com/office/drawing/2014/main" id="{7F8BBEDB-B87B-92BD-D786-D4D2B774D480}"/>
              </a:ext>
            </a:extLst>
          </p:cNvPr>
          <p:cNvSpPr>
            <a:spLocks noGrp="1"/>
          </p:cNvSpPr>
          <p:nvPr>
            <p:ph idx="1"/>
          </p:nvPr>
        </p:nvSpPr>
        <p:spPr/>
        <p:txBody>
          <a:bodyPr/>
          <a:lstStyle/>
          <a:p>
            <a:r>
              <a:rPr lang="en-DE" dirty="0"/>
              <a:t>Polymarket is the next big thing</a:t>
            </a:r>
          </a:p>
          <a:p>
            <a:r>
              <a:rPr lang="en-DE" dirty="0"/>
              <a:t>People love betting and love making money off betting</a:t>
            </a:r>
          </a:p>
          <a:p>
            <a:r>
              <a:rPr lang="en-DE" dirty="0"/>
              <a:t>How do we exploit those people?</a:t>
            </a:r>
          </a:p>
          <a:p>
            <a:r>
              <a:rPr lang="en-DE" dirty="0"/>
              <a:t>Let us introduce you to how polymarket works</a:t>
            </a:r>
          </a:p>
        </p:txBody>
      </p:sp>
    </p:spTree>
    <p:extLst>
      <p:ext uri="{BB962C8B-B14F-4D97-AF65-F5344CB8AC3E}">
        <p14:creationId xmlns:p14="http://schemas.microsoft.com/office/powerpoint/2010/main" val="315587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81D27-64AB-609B-A07C-6FF72ABA5931}"/>
              </a:ext>
            </a:extLst>
          </p:cNvPr>
          <p:cNvSpPr>
            <a:spLocks noGrp="1"/>
          </p:cNvSpPr>
          <p:nvPr>
            <p:ph type="title"/>
          </p:nvPr>
        </p:nvSpPr>
        <p:spPr/>
        <p:txBody>
          <a:bodyPr/>
          <a:lstStyle/>
          <a:p>
            <a:r>
              <a:rPr lang="en-DE" dirty="0"/>
              <a:t>How does polymarket work?</a:t>
            </a:r>
          </a:p>
        </p:txBody>
      </p:sp>
      <p:sp>
        <p:nvSpPr>
          <p:cNvPr id="3" name="Content Placeholder 2">
            <a:extLst>
              <a:ext uri="{FF2B5EF4-FFF2-40B4-BE49-F238E27FC236}">
                <a16:creationId xmlns:a16="http://schemas.microsoft.com/office/drawing/2014/main" id="{5814BDCB-D708-184F-13BF-2950B01093C6}"/>
              </a:ext>
            </a:extLst>
          </p:cNvPr>
          <p:cNvSpPr>
            <a:spLocks noGrp="1"/>
          </p:cNvSpPr>
          <p:nvPr>
            <p:ph idx="1"/>
          </p:nvPr>
        </p:nvSpPr>
        <p:spPr/>
        <p:txBody>
          <a:bodyPr>
            <a:normAutofit fontScale="85000" lnSpcReduction="20000"/>
          </a:bodyPr>
          <a:lstStyle/>
          <a:p>
            <a:r>
              <a:rPr lang="en-DE" dirty="0"/>
              <a:t>Polymarket works via markets</a:t>
            </a:r>
          </a:p>
          <a:p>
            <a:r>
              <a:rPr lang="en-GB" dirty="0" err="1"/>
              <a:t>Polymarket</a:t>
            </a:r>
            <a:r>
              <a:rPr lang="en-GB" dirty="0"/>
              <a:t> is a decentralized prediction market where users bet on the outcome of real-world events by buying and selling shares in those outcomes. It operates on the Polygon blockchain using smart contracts to automate trades and settlements in a transparent, tamper-proof way. To participate, users deposit a stablecoin like USDC into their self-custodial wallet, purchase shares that fluctuate in price based on market demand, and can sell them at any time before the event concludes. When the event is resolved, shares for the correct outcome are redeemed for $1 each, while incorrect shares are worth nothing.</a:t>
            </a:r>
          </a:p>
          <a:p>
            <a:r>
              <a:rPr lang="en-GB" dirty="0"/>
              <a:t>Markets on </a:t>
            </a:r>
            <a:r>
              <a:rPr lang="en-GB" dirty="0" err="1"/>
              <a:t>Polymarket</a:t>
            </a:r>
            <a:r>
              <a:rPr lang="en-GB" dirty="0"/>
              <a:t> are created by a dedicated markets team, not by users directly. Users can suggest new market ideas, but the team selects which markets to list based on several factors. While users cannot create their own markets, anyone can participate by buying and selling shares once a market is created and made public. </a:t>
            </a:r>
          </a:p>
        </p:txBody>
      </p:sp>
    </p:spTree>
    <p:extLst>
      <p:ext uri="{BB962C8B-B14F-4D97-AF65-F5344CB8AC3E}">
        <p14:creationId xmlns:p14="http://schemas.microsoft.com/office/powerpoint/2010/main" val="1541794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1AF9-4719-6566-F964-E302181D9A48}"/>
              </a:ext>
            </a:extLst>
          </p:cNvPr>
          <p:cNvSpPr>
            <a:spLocks noGrp="1"/>
          </p:cNvSpPr>
          <p:nvPr>
            <p:ph type="title"/>
          </p:nvPr>
        </p:nvSpPr>
        <p:spPr/>
        <p:txBody>
          <a:bodyPr/>
          <a:lstStyle/>
          <a:p>
            <a:r>
              <a:rPr lang="en-DE" dirty="0"/>
              <a:t>Now how do we bank on this?</a:t>
            </a:r>
          </a:p>
        </p:txBody>
      </p:sp>
      <p:sp>
        <p:nvSpPr>
          <p:cNvPr id="3" name="Content Placeholder 2">
            <a:extLst>
              <a:ext uri="{FF2B5EF4-FFF2-40B4-BE49-F238E27FC236}">
                <a16:creationId xmlns:a16="http://schemas.microsoft.com/office/drawing/2014/main" id="{0A3E8ED3-F18E-B131-C724-18C8D54BFAD1}"/>
              </a:ext>
            </a:extLst>
          </p:cNvPr>
          <p:cNvSpPr>
            <a:spLocks noGrp="1"/>
          </p:cNvSpPr>
          <p:nvPr>
            <p:ph idx="1"/>
          </p:nvPr>
        </p:nvSpPr>
        <p:spPr/>
        <p:txBody>
          <a:bodyPr/>
          <a:lstStyle/>
          <a:p>
            <a:r>
              <a:rPr lang="en-DE" dirty="0"/>
              <a:t>Every person has one brain</a:t>
            </a:r>
          </a:p>
          <a:p>
            <a:r>
              <a:rPr lang="en-DE" dirty="0"/>
              <a:t>Every brain can think about one thing</a:t>
            </a:r>
          </a:p>
          <a:p>
            <a:r>
              <a:rPr lang="en-DE" dirty="0"/>
              <a:t>Which is not a lot…</a:t>
            </a:r>
          </a:p>
          <a:p>
            <a:r>
              <a:rPr lang="en-DE" dirty="0"/>
              <a:t>An agent swarm can think about many things at once.</a:t>
            </a:r>
          </a:p>
          <a:p>
            <a:r>
              <a:rPr lang="en-DE" dirty="0"/>
              <a:t>And that’s more than what a person can do.</a:t>
            </a:r>
          </a:p>
          <a:p>
            <a:r>
              <a:rPr lang="en-DE" dirty="0"/>
              <a:t>So how do we bank on this?</a:t>
            </a:r>
          </a:p>
        </p:txBody>
      </p:sp>
    </p:spTree>
    <p:extLst>
      <p:ext uri="{BB962C8B-B14F-4D97-AF65-F5344CB8AC3E}">
        <p14:creationId xmlns:p14="http://schemas.microsoft.com/office/powerpoint/2010/main" val="99584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712D7-C3C2-AF48-1D75-E09A539BA600}"/>
              </a:ext>
            </a:extLst>
          </p:cNvPr>
          <p:cNvSpPr>
            <a:spLocks noGrp="1"/>
          </p:cNvSpPr>
          <p:nvPr>
            <p:ph type="title"/>
          </p:nvPr>
        </p:nvSpPr>
        <p:spPr/>
        <p:txBody>
          <a:bodyPr/>
          <a:lstStyle/>
          <a:p>
            <a:r>
              <a:rPr lang="en-DE" dirty="0"/>
              <a:t>How we actually bank on the fact that humans only have one brain</a:t>
            </a:r>
          </a:p>
        </p:txBody>
      </p:sp>
      <p:sp>
        <p:nvSpPr>
          <p:cNvPr id="3" name="Content Placeholder 2">
            <a:extLst>
              <a:ext uri="{FF2B5EF4-FFF2-40B4-BE49-F238E27FC236}">
                <a16:creationId xmlns:a16="http://schemas.microsoft.com/office/drawing/2014/main" id="{4166CC7E-24B0-7FE0-E437-0339FAFE35A5}"/>
              </a:ext>
            </a:extLst>
          </p:cNvPr>
          <p:cNvSpPr>
            <a:spLocks noGrp="1"/>
          </p:cNvSpPr>
          <p:nvPr>
            <p:ph idx="1"/>
          </p:nvPr>
        </p:nvSpPr>
        <p:spPr/>
        <p:txBody>
          <a:bodyPr/>
          <a:lstStyle/>
          <a:p>
            <a:r>
              <a:rPr lang="en-DE" dirty="0"/>
              <a:t>Okay, imagine a human with one brain competing against an ARMY of agents, each with one brain. If we have n agents, and 1 human, that means we have n times more agent brains than human brains. We consider the thinking capabilities the same. Hence, a swarm of agents can think about n times better than one human (except for Sam, he´s a genius).</a:t>
            </a:r>
          </a:p>
          <a:p>
            <a:r>
              <a:rPr lang="en-GB" dirty="0"/>
              <a:t>T</a:t>
            </a:r>
            <a:r>
              <a:rPr lang="en-DE" dirty="0"/>
              <a:t>he solution: RELEASE THE SWARM</a:t>
            </a:r>
          </a:p>
        </p:txBody>
      </p:sp>
      <p:pic>
        <p:nvPicPr>
          <p:cNvPr id="3074" name="Picture 2" descr="YARN | keep everyone alive, escape Swarm, | Doctor Who (2005) - S13E06  Flux: Chapter Six - The Vanquishers | Video gifs by quotes | 0039854f | 紗">
            <a:extLst>
              <a:ext uri="{FF2B5EF4-FFF2-40B4-BE49-F238E27FC236}">
                <a16:creationId xmlns:a16="http://schemas.microsoft.com/office/drawing/2014/main" id="{F1202E04-0431-7C69-249E-35E9139237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8447" y="4318000"/>
            <a:ext cx="508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559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4"/>
                                        </p:tgtEl>
                                        <p:attrNameLst>
                                          <p:attrName>style.visibility</p:attrName>
                                        </p:attrNameLst>
                                      </p:cBhvr>
                                      <p:to>
                                        <p:strVal val="visible"/>
                                      </p:to>
                                    </p:set>
                                    <p:animEffect transition="in" filter="blinds(horizontal)">
                                      <p:cBhvr>
                                        <p:cTn id="1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74CC-493C-C32B-A24E-F14E9E56EBE7}"/>
              </a:ext>
            </a:extLst>
          </p:cNvPr>
          <p:cNvSpPr>
            <a:spLocks noGrp="1"/>
          </p:cNvSpPr>
          <p:nvPr>
            <p:ph type="title"/>
          </p:nvPr>
        </p:nvSpPr>
        <p:spPr/>
        <p:txBody>
          <a:bodyPr/>
          <a:lstStyle/>
          <a:p>
            <a:r>
              <a:rPr lang="en-DE" dirty="0"/>
              <a:t>THE SWARM PRESENTED BY GAUTAM</a:t>
            </a:r>
          </a:p>
        </p:txBody>
      </p:sp>
      <p:sp>
        <p:nvSpPr>
          <p:cNvPr id="3" name="Content Placeholder 2">
            <a:extLst>
              <a:ext uri="{FF2B5EF4-FFF2-40B4-BE49-F238E27FC236}">
                <a16:creationId xmlns:a16="http://schemas.microsoft.com/office/drawing/2014/main" id="{5CA887B4-C38B-ED24-81F3-65115101E041}"/>
              </a:ext>
            </a:extLst>
          </p:cNvPr>
          <p:cNvSpPr>
            <a:spLocks noGrp="1"/>
          </p:cNvSpPr>
          <p:nvPr>
            <p:ph idx="1"/>
          </p:nvPr>
        </p:nvSpPr>
        <p:spPr/>
        <p:txBody>
          <a:bodyPr/>
          <a:lstStyle/>
          <a:p>
            <a:r>
              <a:rPr lang="en-DE" dirty="0"/>
              <a:t>We are a quantitative trading firm that uses agent swarm that uses as much information as possible on polymarket bets to make MONEYYYYYY.</a:t>
            </a:r>
          </a:p>
          <a:p>
            <a:r>
              <a:rPr lang="en-DE" dirty="0"/>
              <a:t>We are the first quantitative trading firm for Polymarket</a:t>
            </a:r>
          </a:p>
        </p:txBody>
      </p:sp>
      <p:pic>
        <p:nvPicPr>
          <p:cNvPr id="5122" name="Picture 2" descr="Copy of Borat Very Nice I like Sticker">
            <a:extLst>
              <a:ext uri="{FF2B5EF4-FFF2-40B4-BE49-F238E27FC236}">
                <a16:creationId xmlns:a16="http://schemas.microsoft.com/office/drawing/2014/main" id="{4B44F2EB-E37E-2EEC-F948-8694BD0C8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587" y="1976716"/>
            <a:ext cx="2733115" cy="3644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47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122"/>
                                        </p:tgtEl>
                                        <p:attrNameLst>
                                          <p:attrName>style.visibility</p:attrName>
                                        </p:attrNameLst>
                                      </p:cBhvr>
                                      <p:to>
                                        <p:strVal val="visible"/>
                                      </p:to>
                                    </p:set>
                                    <p:animEffect transition="in" filter="blinds(horizontal)">
                                      <p:cBhvr>
                                        <p:cTn id="1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6FE8-E4E2-B553-234B-DDB3CD556EDA}"/>
              </a:ext>
            </a:extLst>
          </p:cNvPr>
          <p:cNvSpPr>
            <a:spLocks noGrp="1"/>
          </p:cNvSpPr>
          <p:nvPr>
            <p:ph type="title"/>
          </p:nvPr>
        </p:nvSpPr>
        <p:spPr/>
        <p:txBody>
          <a:bodyPr/>
          <a:lstStyle/>
          <a:p>
            <a:r>
              <a:rPr lang="en-DE" dirty="0"/>
              <a:t>Market Opportunity </a:t>
            </a:r>
          </a:p>
        </p:txBody>
      </p:sp>
      <p:sp>
        <p:nvSpPr>
          <p:cNvPr id="3" name="Content Placeholder 2">
            <a:extLst>
              <a:ext uri="{FF2B5EF4-FFF2-40B4-BE49-F238E27FC236}">
                <a16:creationId xmlns:a16="http://schemas.microsoft.com/office/drawing/2014/main" id="{D97126FD-FE3A-6DBC-62D5-B80764312922}"/>
              </a:ext>
            </a:extLst>
          </p:cNvPr>
          <p:cNvSpPr>
            <a:spLocks noGrp="1"/>
          </p:cNvSpPr>
          <p:nvPr>
            <p:ph idx="1"/>
          </p:nvPr>
        </p:nvSpPr>
        <p:spPr/>
        <p:txBody>
          <a:bodyPr/>
          <a:lstStyle/>
          <a:p>
            <a:r>
              <a:rPr lang="en-DE" dirty="0"/>
              <a:t>Money bet on Polymarket:</a:t>
            </a:r>
            <a:r>
              <a:rPr lang="en-GB" dirty="0"/>
              <a:t> $3.3 billion USD</a:t>
            </a:r>
          </a:p>
          <a:p>
            <a:r>
              <a:rPr lang="en-GB" dirty="0"/>
              <a:t>On a 5M USD fund, we would make 2.5M USD profit (assuming a winning probability of 75%)</a:t>
            </a:r>
          </a:p>
          <a:p>
            <a:pPr lvl="1"/>
            <a:r>
              <a:rPr lang="en-GB" dirty="0"/>
              <a:t>A</a:t>
            </a:r>
            <a:r>
              <a:rPr lang="en-DE" dirty="0"/>
              <a:t>fter 10 years: 288M USD!!!!!</a:t>
            </a:r>
          </a:p>
          <a:p>
            <a:pPr lvl="1"/>
            <a:r>
              <a:rPr lang="en-DE" dirty="0"/>
              <a:t>And remember that this is very conservative: we are assuming each dollar is only bet on ONCE a year, but theoretically we could bet infinite amount of times, so we could make probably a billion dollars in less than 5 years</a:t>
            </a:r>
          </a:p>
          <a:p>
            <a:endParaRPr lang="en-DE" dirty="0"/>
          </a:p>
          <a:p>
            <a:r>
              <a:rPr lang="en-DE" dirty="0"/>
              <a:t>This is one of the most profitable funds ever in financial history</a:t>
            </a:r>
          </a:p>
        </p:txBody>
      </p:sp>
    </p:spTree>
    <p:extLst>
      <p:ext uri="{BB962C8B-B14F-4D97-AF65-F5344CB8AC3E}">
        <p14:creationId xmlns:p14="http://schemas.microsoft.com/office/powerpoint/2010/main" val="391381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blinds(horizontal)">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17D09-442A-4BB7-FA6F-F3F316DA6CA3}"/>
              </a:ext>
            </a:extLst>
          </p:cNvPr>
          <p:cNvSpPr>
            <a:spLocks noGrp="1"/>
          </p:cNvSpPr>
          <p:nvPr>
            <p:ph type="title"/>
          </p:nvPr>
        </p:nvSpPr>
        <p:spPr/>
        <p:txBody>
          <a:bodyPr/>
          <a:lstStyle/>
          <a:p>
            <a:r>
              <a:rPr lang="en-DE" dirty="0"/>
              <a:t>Two things: backend and frontend</a:t>
            </a:r>
          </a:p>
        </p:txBody>
      </p:sp>
      <p:sp>
        <p:nvSpPr>
          <p:cNvPr id="3" name="Content Placeholder 2">
            <a:extLst>
              <a:ext uri="{FF2B5EF4-FFF2-40B4-BE49-F238E27FC236}">
                <a16:creationId xmlns:a16="http://schemas.microsoft.com/office/drawing/2014/main" id="{62129A58-0F5E-242B-3F52-B81AFA98A097}"/>
              </a:ext>
            </a:extLst>
          </p:cNvPr>
          <p:cNvSpPr>
            <a:spLocks noGrp="1"/>
          </p:cNvSpPr>
          <p:nvPr>
            <p:ph idx="1"/>
          </p:nvPr>
        </p:nvSpPr>
        <p:spPr/>
        <p:txBody>
          <a:bodyPr/>
          <a:lstStyle/>
          <a:p>
            <a:endParaRPr lang="en-DE"/>
          </a:p>
        </p:txBody>
      </p:sp>
    </p:spTree>
    <p:extLst>
      <p:ext uri="{BB962C8B-B14F-4D97-AF65-F5344CB8AC3E}">
        <p14:creationId xmlns:p14="http://schemas.microsoft.com/office/powerpoint/2010/main" val="3261129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29A7A-9E6E-C624-0367-D062F0470D7F}"/>
              </a:ext>
            </a:extLst>
          </p:cNvPr>
          <p:cNvSpPr>
            <a:spLocks noGrp="1"/>
          </p:cNvSpPr>
          <p:nvPr>
            <p:ph type="title"/>
          </p:nvPr>
        </p:nvSpPr>
        <p:spPr/>
        <p:txBody>
          <a:bodyPr/>
          <a:lstStyle/>
          <a:p>
            <a:r>
              <a:rPr lang="en-DE" dirty="0"/>
              <a:t>Backend</a:t>
            </a:r>
          </a:p>
        </p:txBody>
      </p:sp>
      <p:sp>
        <p:nvSpPr>
          <p:cNvPr id="3" name="Content Placeholder 2">
            <a:extLst>
              <a:ext uri="{FF2B5EF4-FFF2-40B4-BE49-F238E27FC236}">
                <a16:creationId xmlns:a16="http://schemas.microsoft.com/office/drawing/2014/main" id="{8B44514E-2383-EFF4-5E43-72C15A715518}"/>
              </a:ext>
            </a:extLst>
          </p:cNvPr>
          <p:cNvSpPr>
            <a:spLocks noGrp="1"/>
          </p:cNvSpPr>
          <p:nvPr>
            <p:ph idx="1"/>
          </p:nvPr>
        </p:nvSpPr>
        <p:spPr/>
        <p:txBody>
          <a:bodyPr/>
          <a:lstStyle/>
          <a:p>
            <a:r>
              <a:rPr lang="en-DE" dirty="0"/>
              <a:t>Look at how Jane street does their trades, what decision processes are involved, where human decisions come into play, and literally COPY this 1 to 1, do not feel ashamed</a:t>
            </a:r>
          </a:p>
          <a:p>
            <a:r>
              <a:rPr lang="en-DE" dirty="0"/>
              <a:t>Just copy what Jane Street does</a:t>
            </a:r>
          </a:p>
        </p:txBody>
      </p:sp>
      <p:sp>
        <p:nvSpPr>
          <p:cNvPr id="4" name="Oval 3">
            <a:extLst>
              <a:ext uri="{FF2B5EF4-FFF2-40B4-BE49-F238E27FC236}">
                <a16:creationId xmlns:a16="http://schemas.microsoft.com/office/drawing/2014/main" id="{4AB738B0-881A-613F-30F3-2830D25ED1AB}"/>
              </a:ext>
            </a:extLst>
          </p:cNvPr>
          <p:cNvSpPr/>
          <p:nvPr/>
        </p:nvSpPr>
        <p:spPr>
          <a:xfrm>
            <a:off x="2174789" y="4584357"/>
            <a:ext cx="815546" cy="8155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 name="Oval 4">
            <a:extLst>
              <a:ext uri="{FF2B5EF4-FFF2-40B4-BE49-F238E27FC236}">
                <a16:creationId xmlns:a16="http://schemas.microsoft.com/office/drawing/2014/main" id="{D15CF010-3D26-1D8D-883E-D99477BF1BE7}"/>
              </a:ext>
            </a:extLst>
          </p:cNvPr>
          <p:cNvSpPr/>
          <p:nvPr/>
        </p:nvSpPr>
        <p:spPr>
          <a:xfrm>
            <a:off x="4810896" y="4263080"/>
            <a:ext cx="1453979" cy="145397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Oval 5">
            <a:extLst>
              <a:ext uri="{FF2B5EF4-FFF2-40B4-BE49-F238E27FC236}">
                <a16:creationId xmlns:a16="http://schemas.microsoft.com/office/drawing/2014/main" id="{1E0A5342-8CA4-A056-3E33-3F31901CA328}"/>
              </a:ext>
            </a:extLst>
          </p:cNvPr>
          <p:cNvSpPr/>
          <p:nvPr/>
        </p:nvSpPr>
        <p:spPr>
          <a:xfrm>
            <a:off x="8085436" y="4584357"/>
            <a:ext cx="815546" cy="8155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 name="TextBox 6">
            <a:extLst>
              <a:ext uri="{FF2B5EF4-FFF2-40B4-BE49-F238E27FC236}">
                <a16:creationId xmlns:a16="http://schemas.microsoft.com/office/drawing/2014/main" id="{2537B4C7-04DE-DE48-0CE5-63B0C84EABF4}"/>
              </a:ext>
            </a:extLst>
          </p:cNvPr>
          <p:cNvSpPr txBox="1"/>
          <p:nvPr/>
        </p:nvSpPr>
        <p:spPr>
          <a:xfrm>
            <a:off x="4992130" y="6042454"/>
            <a:ext cx="1643399" cy="646331"/>
          </a:xfrm>
          <a:prstGeom prst="rect">
            <a:avLst/>
          </a:prstGeom>
          <a:noFill/>
        </p:spPr>
        <p:txBody>
          <a:bodyPr wrap="none" rtlCol="0">
            <a:spAutoFit/>
          </a:bodyPr>
          <a:lstStyle/>
          <a:p>
            <a:r>
              <a:rPr lang="en-GB" dirty="0"/>
              <a:t>a lot of data</a:t>
            </a:r>
          </a:p>
          <a:p>
            <a:r>
              <a:rPr lang="en-GB" dirty="0"/>
              <a:t>on specific bet</a:t>
            </a:r>
            <a:endParaRPr lang="en-DE" dirty="0"/>
          </a:p>
        </p:txBody>
      </p:sp>
      <p:sp>
        <p:nvSpPr>
          <p:cNvPr id="8" name="TextBox 7">
            <a:extLst>
              <a:ext uri="{FF2B5EF4-FFF2-40B4-BE49-F238E27FC236}">
                <a16:creationId xmlns:a16="http://schemas.microsoft.com/office/drawing/2014/main" id="{E8A80E35-41C3-5924-D436-F647F4502DFD}"/>
              </a:ext>
            </a:extLst>
          </p:cNvPr>
          <p:cNvSpPr txBox="1"/>
          <p:nvPr/>
        </p:nvSpPr>
        <p:spPr>
          <a:xfrm>
            <a:off x="1905806" y="6042453"/>
            <a:ext cx="1670394" cy="646331"/>
          </a:xfrm>
          <a:prstGeom prst="rect">
            <a:avLst/>
          </a:prstGeom>
          <a:noFill/>
        </p:spPr>
        <p:txBody>
          <a:bodyPr wrap="none" rtlCol="0">
            <a:spAutoFit/>
          </a:bodyPr>
          <a:lstStyle/>
          <a:p>
            <a:r>
              <a:rPr lang="en-GB" dirty="0"/>
              <a:t>create browser</a:t>
            </a:r>
          </a:p>
          <a:p>
            <a:r>
              <a:rPr lang="en-GB" dirty="0"/>
              <a:t>agents</a:t>
            </a:r>
            <a:endParaRPr lang="en-DE" dirty="0"/>
          </a:p>
        </p:txBody>
      </p:sp>
      <p:sp>
        <p:nvSpPr>
          <p:cNvPr id="9" name="TextBox 8">
            <a:extLst>
              <a:ext uri="{FF2B5EF4-FFF2-40B4-BE49-F238E27FC236}">
                <a16:creationId xmlns:a16="http://schemas.microsoft.com/office/drawing/2014/main" id="{EF84BACE-65AD-537A-F907-8FBBC99477FA}"/>
              </a:ext>
            </a:extLst>
          </p:cNvPr>
          <p:cNvSpPr txBox="1"/>
          <p:nvPr/>
        </p:nvSpPr>
        <p:spPr>
          <a:xfrm>
            <a:off x="7605786" y="6196161"/>
            <a:ext cx="1774845" cy="369332"/>
          </a:xfrm>
          <a:prstGeom prst="rect">
            <a:avLst/>
          </a:prstGeom>
          <a:noFill/>
        </p:spPr>
        <p:txBody>
          <a:bodyPr wrap="none" rtlCol="0">
            <a:spAutoFit/>
          </a:bodyPr>
          <a:lstStyle/>
          <a:p>
            <a:r>
              <a:rPr lang="en-GB" dirty="0"/>
              <a:t>betting decision</a:t>
            </a:r>
            <a:endParaRPr lang="en-DE" dirty="0"/>
          </a:p>
        </p:txBody>
      </p:sp>
      <p:cxnSp>
        <p:nvCxnSpPr>
          <p:cNvPr id="11" name="Straight Arrow Connector 10">
            <a:extLst>
              <a:ext uri="{FF2B5EF4-FFF2-40B4-BE49-F238E27FC236}">
                <a16:creationId xmlns:a16="http://schemas.microsoft.com/office/drawing/2014/main" id="{17B60D38-DEDE-B8E0-E13F-A489A7876A35}"/>
              </a:ext>
            </a:extLst>
          </p:cNvPr>
          <p:cNvCxnSpPr>
            <a:cxnSpLocks/>
            <a:stCxn id="4" idx="6"/>
          </p:cNvCxnSpPr>
          <p:nvPr/>
        </p:nvCxnSpPr>
        <p:spPr>
          <a:xfrm flipV="1">
            <a:off x="2990335" y="4990069"/>
            <a:ext cx="1820561" cy="20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62F9B7C-DBE1-0CD6-2434-C8CDC7B967D6}"/>
              </a:ext>
            </a:extLst>
          </p:cNvPr>
          <p:cNvSpPr txBox="1"/>
          <p:nvPr/>
        </p:nvSpPr>
        <p:spPr>
          <a:xfrm>
            <a:off x="3204699" y="4016582"/>
            <a:ext cx="1515608" cy="923330"/>
          </a:xfrm>
          <a:prstGeom prst="rect">
            <a:avLst/>
          </a:prstGeom>
          <a:noFill/>
        </p:spPr>
        <p:txBody>
          <a:bodyPr wrap="none" rtlCol="0">
            <a:spAutoFit/>
          </a:bodyPr>
          <a:lstStyle/>
          <a:p>
            <a:r>
              <a:rPr lang="en-GB" dirty="0"/>
              <a:t>C</a:t>
            </a:r>
            <a:r>
              <a:rPr lang="en-DE" dirty="0"/>
              <a:t>ollect data</a:t>
            </a:r>
          </a:p>
          <a:p>
            <a:r>
              <a:rPr lang="en-DE" dirty="0"/>
              <a:t>(BrowserUse,</a:t>
            </a:r>
          </a:p>
          <a:p>
            <a:r>
              <a:rPr lang="en-DE" dirty="0"/>
              <a:t>Perplexity)</a:t>
            </a:r>
          </a:p>
        </p:txBody>
      </p:sp>
      <p:cxnSp>
        <p:nvCxnSpPr>
          <p:cNvPr id="14" name="Straight Arrow Connector 13">
            <a:extLst>
              <a:ext uri="{FF2B5EF4-FFF2-40B4-BE49-F238E27FC236}">
                <a16:creationId xmlns:a16="http://schemas.microsoft.com/office/drawing/2014/main" id="{42AFA211-BEE0-EEA6-996B-BDD77F2F9A2B}"/>
              </a:ext>
            </a:extLst>
          </p:cNvPr>
          <p:cNvCxnSpPr>
            <a:cxnSpLocks/>
          </p:cNvCxnSpPr>
          <p:nvPr/>
        </p:nvCxnSpPr>
        <p:spPr>
          <a:xfrm flipV="1">
            <a:off x="6264875" y="4969821"/>
            <a:ext cx="1820561" cy="20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9BC8258-81E6-90BF-653A-EB8BC0425B49}"/>
              </a:ext>
            </a:extLst>
          </p:cNvPr>
          <p:cNvSpPr txBox="1"/>
          <p:nvPr/>
        </p:nvSpPr>
        <p:spPr>
          <a:xfrm>
            <a:off x="6388577" y="5106819"/>
            <a:ext cx="1613840" cy="646331"/>
          </a:xfrm>
          <a:prstGeom prst="rect">
            <a:avLst/>
          </a:prstGeom>
          <a:noFill/>
        </p:spPr>
        <p:txBody>
          <a:bodyPr wrap="none" rtlCol="0">
            <a:spAutoFit/>
          </a:bodyPr>
          <a:lstStyle/>
          <a:p>
            <a:r>
              <a:rPr lang="de-DE" dirty="0" err="1"/>
              <a:t>Make</a:t>
            </a:r>
            <a:r>
              <a:rPr lang="de-DE" dirty="0"/>
              <a:t> </a:t>
            </a:r>
            <a:r>
              <a:rPr lang="de-DE" dirty="0" err="1"/>
              <a:t>decision</a:t>
            </a:r>
            <a:endParaRPr lang="de-DE" dirty="0"/>
          </a:p>
          <a:p>
            <a:r>
              <a:rPr lang="de-DE" dirty="0"/>
              <a:t>(ML, </a:t>
            </a:r>
            <a:r>
              <a:rPr lang="de-DE" dirty="0" err="1"/>
              <a:t>Replit</a:t>
            </a:r>
            <a:r>
              <a:rPr lang="de-DE" dirty="0"/>
              <a:t>)</a:t>
            </a:r>
            <a:endParaRPr lang="en-DE" dirty="0"/>
          </a:p>
        </p:txBody>
      </p:sp>
      <p:cxnSp>
        <p:nvCxnSpPr>
          <p:cNvPr id="18" name="Curved Connector 17">
            <a:extLst>
              <a:ext uri="{FF2B5EF4-FFF2-40B4-BE49-F238E27FC236}">
                <a16:creationId xmlns:a16="http://schemas.microsoft.com/office/drawing/2014/main" id="{D01C9F92-0EC5-377D-A487-29B5B9C4A0FD}"/>
              </a:ext>
            </a:extLst>
          </p:cNvPr>
          <p:cNvCxnSpPr>
            <a:cxnSpLocks/>
            <a:stCxn id="6" idx="0"/>
          </p:cNvCxnSpPr>
          <p:nvPr/>
        </p:nvCxnSpPr>
        <p:spPr>
          <a:xfrm rot="16200000" flipH="1" flipV="1">
            <a:off x="7761007" y="4218421"/>
            <a:ext cx="366266" cy="1098138"/>
          </a:xfrm>
          <a:prstGeom prst="curvedConnector4">
            <a:avLst>
              <a:gd name="adj1" fmla="val -143383"/>
              <a:gd name="adj2" fmla="val 98949"/>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66508301-6C9B-44D0-3068-64679BB2D253}"/>
              </a:ext>
            </a:extLst>
          </p:cNvPr>
          <p:cNvSpPr txBox="1"/>
          <p:nvPr/>
        </p:nvSpPr>
        <p:spPr>
          <a:xfrm>
            <a:off x="8900982" y="3599410"/>
            <a:ext cx="3060164" cy="1200329"/>
          </a:xfrm>
          <a:prstGeom prst="rect">
            <a:avLst/>
          </a:prstGeom>
          <a:noFill/>
        </p:spPr>
        <p:txBody>
          <a:bodyPr wrap="square" rtlCol="0">
            <a:spAutoFit/>
          </a:bodyPr>
          <a:lstStyle/>
          <a:p>
            <a:r>
              <a:rPr lang="en-GB" dirty="0"/>
              <a:t>Remember decisions</a:t>
            </a:r>
          </a:p>
          <a:p>
            <a:r>
              <a:rPr lang="en-DE" dirty="0"/>
              <a:t>(Hyperspell)</a:t>
            </a:r>
            <a:r>
              <a:rPr lang="en-GB" dirty="0"/>
              <a:t>, learn from them</a:t>
            </a:r>
            <a:r>
              <a:rPr lang="en-DE" dirty="0"/>
              <a:t>, and update ML </a:t>
            </a:r>
          </a:p>
          <a:p>
            <a:r>
              <a:rPr lang="en-DE" dirty="0"/>
              <a:t>model and </a:t>
            </a:r>
            <a:r>
              <a:rPr lang="en-GB" dirty="0"/>
              <a:t>A</a:t>
            </a:r>
            <a:r>
              <a:rPr lang="en-DE" dirty="0"/>
              <a:t>gentic search </a:t>
            </a:r>
            <a:endParaRPr lang="en-GB" dirty="0"/>
          </a:p>
        </p:txBody>
      </p:sp>
      <p:sp>
        <p:nvSpPr>
          <p:cNvPr id="25" name="Rectangle 24">
            <a:extLst>
              <a:ext uri="{FF2B5EF4-FFF2-40B4-BE49-F238E27FC236}">
                <a16:creationId xmlns:a16="http://schemas.microsoft.com/office/drawing/2014/main" id="{F542EF94-9B39-C5C9-C91A-53735565A188}"/>
              </a:ext>
            </a:extLst>
          </p:cNvPr>
          <p:cNvSpPr/>
          <p:nvPr/>
        </p:nvSpPr>
        <p:spPr>
          <a:xfrm>
            <a:off x="6388577" y="3534032"/>
            <a:ext cx="5278257" cy="315475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6" name="TextBox 25">
            <a:extLst>
              <a:ext uri="{FF2B5EF4-FFF2-40B4-BE49-F238E27FC236}">
                <a16:creationId xmlns:a16="http://schemas.microsoft.com/office/drawing/2014/main" id="{5907A2D2-28D7-5548-FA24-9129D39ED471}"/>
              </a:ext>
            </a:extLst>
          </p:cNvPr>
          <p:cNvSpPr txBox="1"/>
          <p:nvPr/>
        </p:nvSpPr>
        <p:spPr>
          <a:xfrm>
            <a:off x="9737125" y="6275284"/>
            <a:ext cx="1920141" cy="369332"/>
          </a:xfrm>
          <a:prstGeom prst="rect">
            <a:avLst/>
          </a:prstGeom>
          <a:noFill/>
        </p:spPr>
        <p:txBody>
          <a:bodyPr wrap="none" rtlCol="0">
            <a:spAutoFit/>
          </a:bodyPr>
          <a:lstStyle/>
          <a:p>
            <a:r>
              <a:rPr lang="en-GB" b="1" dirty="0">
                <a:solidFill>
                  <a:srgbClr val="FF0000"/>
                </a:solidFill>
              </a:rPr>
              <a:t>T</a:t>
            </a:r>
            <a:r>
              <a:rPr lang="en-DE" b="1" dirty="0">
                <a:solidFill>
                  <a:srgbClr val="FF0000"/>
                </a:solidFill>
              </a:rPr>
              <a:t>oo complicated</a:t>
            </a:r>
          </a:p>
        </p:txBody>
      </p:sp>
      <p:sp>
        <p:nvSpPr>
          <p:cNvPr id="27" name="Rectangle 26">
            <a:extLst>
              <a:ext uri="{FF2B5EF4-FFF2-40B4-BE49-F238E27FC236}">
                <a16:creationId xmlns:a16="http://schemas.microsoft.com/office/drawing/2014/main" id="{BE4B52BB-F0A3-8A14-6B7B-7ADBD2150255}"/>
              </a:ext>
            </a:extLst>
          </p:cNvPr>
          <p:cNvSpPr/>
          <p:nvPr/>
        </p:nvSpPr>
        <p:spPr>
          <a:xfrm>
            <a:off x="1051190" y="3534032"/>
            <a:ext cx="5278257" cy="3154752"/>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8" name="TextBox 27">
            <a:extLst>
              <a:ext uri="{FF2B5EF4-FFF2-40B4-BE49-F238E27FC236}">
                <a16:creationId xmlns:a16="http://schemas.microsoft.com/office/drawing/2014/main" id="{7CC74569-E6E9-0A7A-01F1-EA3BC5EEBFAB}"/>
              </a:ext>
            </a:extLst>
          </p:cNvPr>
          <p:cNvSpPr txBox="1"/>
          <p:nvPr/>
        </p:nvSpPr>
        <p:spPr>
          <a:xfrm>
            <a:off x="1172879" y="3539458"/>
            <a:ext cx="1574277" cy="369332"/>
          </a:xfrm>
          <a:prstGeom prst="rect">
            <a:avLst/>
          </a:prstGeom>
          <a:noFill/>
        </p:spPr>
        <p:txBody>
          <a:bodyPr wrap="none" rtlCol="0">
            <a:spAutoFit/>
          </a:bodyPr>
          <a:lstStyle/>
          <a:p>
            <a:r>
              <a:rPr lang="de-DE" b="1" dirty="0">
                <a:solidFill>
                  <a:srgbClr val="00B050"/>
                </a:solidFill>
              </a:rPr>
              <a:t>Focus on </a:t>
            </a:r>
            <a:r>
              <a:rPr lang="de-DE" b="1" dirty="0" err="1">
                <a:solidFill>
                  <a:srgbClr val="00B050"/>
                </a:solidFill>
              </a:rPr>
              <a:t>this</a:t>
            </a:r>
            <a:endParaRPr lang="en-DE" b="1" dirty="0">
              <a:solidFill>
                <a:srgbClr val="00B050"/>
              </a:solidFill>
            </a:endParaRPr>
          </a:p>
        </p:txBody>
      </p:sp>
      <p:cxnSp>
        <p:nvCxnSpPr>
          <p:cNvPr id="34" name="Curved Connector 33">
            <a:extLst>
              <a:ext uri="{FF2B5EF4-FFF2-40B4-BE49-F238E27FC236}">
                <a16:creationId xmlns:a16="http://schemas.microsoft.com/office/drawing/2014/main" id="{1171CC32-61A1-7FC0-D5A8-D9FEDBB8940A}"/>
              </a:ext>
            </a:extLst>
          </p:cNvPr>
          <p:cNvCxnSpPr>
            <a:cxnSpLocks/>
            <a:stCxn id="6" idx="0"/>
          </p:cNvCxnSpPr>
          <p:nvPr/>
        </p:nvCxnSpPr>
        <p:spPr>
          <a:xfrm rot="16200000" flipV="1">
            <a:off x="6432436" y="2523584"/>
            <a:ext cx="407774" cy="371377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335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par>
                                <p:cTn id="33" presetID="3" presetClass="entr" presetSubtype="1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blinds(horizontal)">
                                      <p:cBhvr>
                                        <p:cTn id="35" dur="500"/>
                                        <p:tgtEl>
                                          <p:spTgt spid="11"/>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blinds(horizontal)">
                                      <p:cBhvr>
                                        <p:cTn id="38" dur="500"/>
                                        <p:tgtEl>
                                          <p:spTgt spid="13"/>
                                        </p:tgtEl>
                                      </p:cBhvr>
                                    </p:animEffect>
                                  </p:childTnLst>
                                </p:cTn>
                              </p:par>
                              <p:par>
                                <p:cTn id="39" presetID="3" presetClass="entr" presetSubtype="1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blinds(horizontal)">
                                      <p:cBhvr>
                                        <p:cTn id="41" dur="500"/>
                                        <p:tgtEl>
                                          <p:spTgt spid="14"/>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blinds(horizontal)">
                                      <p:cBhvr>
                                        <p:cTn id="44" dur="500"/>
                                        <p:tgtEl>
                                          <p:spTgt spid="15"/>
                                        </p:tgtEl>
                                      </p:cBhvr>
                                    </p:animEffect>
                                  </p:childTnLst>
                                </p:cTn>
                              </p:par>
                              <p:par>
                                <p:cTn id="45" presetID="3" presetClass="entr" presetSubtype="1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blinds(horizontal)">
                                      <p:cBhvr>
                                        <p:cTn id="47" dur="500"/>
                                        <p:tgtEl>
                                          <p:spTgt spid="18"/>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blinds(horizontal)">
                                      <p:cBhvr>
                                        <p:cTn id="50" dur="500"/>
                                        <p:tgtEl>
                                          <p:spTgt spid="24"/>
                                        </p:tgtEl>
                                      </p:cBhvr>
                                    </p:animEffect>
                                  </p:childTnLst>
                                </p:cTn>
                              </p:par>
                              <p:par>
                                <p:cTn id="51" presetID="3" presetClass="entr" presetSubtype="1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blinds(horizontal)">
                                      <p:cBhvr>
                                        <p:cTn id="53" dur="5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blinds(horizontal)">
                                      <p:cBhvr>
                                        <p:cTn id="58" dur="500"/>
                                        <p:tgtEl>
                                          <p:spTgt spid="26"/>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blinds(horizontal)">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blinds(horizontal)">
                                      <p:cBhvr>
                                        <p:cTn id="66" dur="500"/>
                                        <p:tgtEl>
                                          <p:spTgt spid="28"/>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blinds(horizontal)">
                                      <p:cBhvr>
                                        <p:cTn id="6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p:bldP spid="8" grpId="0"/>
      <p:bldP spid="9" grpId="0"/>
      <p:bldP spid="13" grpId="0"/>
      <p:bldP spid="15" grpId="0"/>
      <p:bldP spid="24" grpId="0"/>
      <p:bldP spid="25" grpId="0" animBg="1"/>
      <p:bldP spid="26" grpId="0"/>
      <p:bldP spid="27" grpId="0" animBg="1"/>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E799-ABF5-1371-6E10-BA311BF52705}"/>
              </a:ext>
            </a:extLst>
          </p:cNvPr>
          <p:cNvSpPr>
            <a:spLocks noGrp="1"/>
          </p:cNvSpPr>
          <p:nvPr>
            <p:ph type="title"/>
          </p:nvPr>
        </p:nvSpPr>
        <p:spPr/>
        <p:txBody>
          <a:bodyPr/>
          <a:lstStyle/>
          <a:p>
            <a:r>
              <a:rPr lang="en-DE" dirty="0"/>
              <a:t>Backend Tech Stack</a:t>
            </a:r>
          </a:p>
        </p:txBody>
      </p:sp>
      <p:sp>
        <p:nvSpPr>
          <p:cNvPr id="3" name="Content Placeholder 2">
            <a:extLst>
              <a:ext uri="{FF2B5EF4-FFF2-40B4-BE49-F238E27FC236}">
                <a16:creationId xmlns:a16="http://schemas.microsoft.com/office/drawing/2014/main" id="{6A3436D2-3370-A04D-21A1-909C83435308}"/>
              </a:ext>
            </a:extLst>
          </p:cNvPr>
          <p:cNvSpPr>
            <a:spLocks noGrp="1"/>
          </p:cNvSpPr>
          <p:nvPr>
            <p:ph idx="1"/>
          </p:nvPr>
        </p:nvSpPr>
        <p:spPr/>
        <p:txBody>
          <a:bodyPr/>
          <a:lstStyle/>
          <a:p>
            <a:r>
              <a:rPr lang="en-DE" dirty="0"/>
              <a:t>Hyperspell</a:t>
            </a:r>
          </a:p>
          <a:p>
            <a:pPr lvl="1"/>
            <a:r>
              <a:rPr lang="en-GB" dirty="0"/>
              <a:t>A</a:t>
            </a:r>
            <a:r>
              <a:rPr lang="en-DE" dirty="0"/>
              <a:t>ngents need to remember previous trades and learn from them</a:t>
            </a:r>
          </a:p>
          <a:p>
            <a:r>
              <a:rPr lang="en-DE" dirty="0"/>
              <a:t>Replit</a:t>
            </a:r>
          </a:p>
          <a:p>
            <a:pPr lvl="1"/>
            <a:r>
              <a:rPr lang="en-DE" dirty="0"/>
              <a:t>We want our agents to reason before closing a trade</a:t>
            </a:r>
          </a:p>
          <a:p>
            <a:r>
              <a:rPr lang="en-DE" dirty="0"/>
              <a:t>BrowserUse/Perplexity</a:t>
            </a:r>
          </a:p>
          <a:p>
            <a:pPr lvl="1"/>
            <a:r>
              <a:rPr lang="en-GB" dirty="0"/>
              <a:t>N</a:t>
            </a:r>
            <a:r>
              <a:rPr lang="en-DE" dirty="0"/>
              <a:t>eed to retrieve information on web on which to base our trades</a:t>
            </a:r>
          </a:p>
          <a:p>
            <a:endParaRPr lang="en-DE" dirty="0"/>
          </a:p>
          <a:p>
            <a:pPr marL="457200" lvl="1" indent="0">
              <a:buNone/>
            </a:pPr>
            <a:endParaRPr lang="en-DE" dirty="0"/>
          </a:p>
        </p:txBody>
      </p:sp>
    </p:spTree>
    <p:extLst>
      <p:ext uri="{BB962C8B-B14F-4D97-AF65-F5344CB8AC3E}">
        <p14:creationId xmlns:p14="http://schemas.microsoft.com/office/powerpoint/2010/main" val="2259272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A7E91-C3FB-FAB4-AB95-EBBBA1AB95C3}"/>
              </a:ext>
            </a:extLst>
          </p:cNvPr>
          <p:cNvSpPr>
            <a:spLocks noGrp="1"/>
          </p:cNvSpPr>
          <p:nvPr>
            <p:ph type="title"/>
          </p:nvPr>
        </p:nvSpPr>
        <p:spPr/>
        <p:txBody>
          <a:bodyPr/>
          <a:lstStyle/>
          <a:p>
            <a:r>
              <a:rPr lang="en-DE" dirty="0"/>
              <a:t>Frontend	</a:t>
            </a:r>
          </a:p>
        </p:txBody>
      </p:sp>
      <p:sp>
        <p:nvSpPr>
          <p:cNvPr id="3" name="Content Placeholder 2">
            <a:extLst>
              <a:ext uri="{FF2B5EF4-FFF2-40B4-BE49-F238E27FC236}">
                <a16:creationId xmlns:a16="http://schemas.microsoft.com/office/drawing/2014/main" id="{9C6F0512-1D2F-C680-3E36-1934776CED62}"/>
              </a:ext>
            </a:extLst>
          </p:cNvPr>
          <p:cNvSpPr>
            <a:spLocks noGrp="1"/>
          </p:cNvSpPr>
          <p:nvPr>
            <p:ph idx="1"/>
          </p:nvPr>
        </p:nvSpPr>
        <p:spPr/>
        <p:txBody>
          <a:bodyPr/>
          <a:lstStyle/>
          <a:p>
            <a:r>
              <a:rPr lang="en-DE" dirty="0"/>
              <a:t>We will use the same trading frontend that Jane Street uses</a:t>
            </a:r>
          </a:p>
        </p:txBody>
      </p:sp>
    </p:spTree>
    <p:extLst>
      <p:ext uri="{BB962C8B-B14F-4D97-AF65-F5344CB8AC3E}">
        <p14:creationId xmlns:p14="http://schemas.microsoft.com/office/powerpoint/2010/main" val="834952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EB4C4-0F56-3557-2790-0C93D6830698}"/>
              </a:ext>
            </a:extLst>
          </p:cNvPr>
          <p:cNvSpPr>
            <a:spLocks noGrp="1"/>
          </p:cNvSpPr>
          <p:nvPr>
            <p:ph type="title"/>
          </p:nvPr>
        </p:nvSpPr>
        <p:spPr/>
        <p:txBody>
          <a:bodyPr/>
          <a:lstStyle/>
          <a:p>
            <a:r>
              <a:rPr lang="en-DE" dirty="0"/>
              <a:t>Name ideas we had when we were sober again:</a:t>
            </a:r>
          </a:p>
        </p:txBody>
      </p:sp>
      <p:sp>
        <p:nvSpPr>
          <p:cNvPr id="3" name="Content Placeholder 2">
            <a:extLst>
              <a:ext uri="{FF2B5EF4-FFF2-40B4-BE49-F238E27FC236}">
                <a16:creationId xmlns:a16="http://schemas.microsoft.com/office/drawing/2014/main" id="{0EFB8A19-0F5D-974D-2E97-8F26C3E637B5}"/>
              </a:ext>
            </a:extLst>
          </p:cNvPr>
          <p:cNvSpPr>
            <a:spLocks noGrp="1"/>
          </p:cNvSpPr>
          <p:nvPr>
            <p:ph idx="1"/>
          </p:nvPr>
        </p:nvSpPr>
        <p:spPr/>
        <p:txBody>
          <a:bodyPr/>
          <a:lstStyle/>
          <a:p>
            <a:r>
              <a:rPr lang="en-DE" b="1" u="sng" dirty="0">
                <a:latin typeface="Andale Mono" panose="020B0509000000000004" pitchFamily="49" charset="0"/>
              </a:rPr>
              <a:t>Quantflow</a:t>
            </a:r>
          </a:p>
          <a:p>
            <a:r>
              <a:rPr lang="en-DE" b="1" u="sng" dirty="0">
                <a:latin typeface="Andale Mono" panose="020B0509000000000004" pitchFamily="49" charset="0"/>
              </a:rPr>
              <a:t>Flexquant</a:t>
            </a:r>
          </a:p>
          <a:p>
            <a:r>
              <a:rPr lang="en-DE" b="1" u="sng" dirty="0">
                <a:latin typeface="Andale Mono" panose="020B0509000000000004" pitchFamily="49" charset="0"/>
              </a:rPr>
              <a:t>Prior</a:t>
            </a:r>
          </a:p>
          <a:p>
            <a:r>
              <a:rPr lang="en-DE" b="1" u="sng" dirty="0">
                <a:latin typeface="Andale Mono" panose="020B0509000000000004" pitchFamily="49" charset="0"/>
              </a:rPr>
              <a:t>Bayesian Street</a:t>
            </a:r>
          </a:p>
          <a:p>
            <a:r>
              <a:rPr lang="en-DE" b="1" u="sng" dirty="0">
                <a:latin typeface="Andale Mono" panose="020B0509000000000004" pitchFamily="49" charset="0"/>
              </a:rPr>
              <a:t>Agentic Alpha</a:t>
            </a:r>
          </a:p>
          <a:p>
            <a:r>
              <a:rPr lang="en-DE" b="1" u="sng" dirty="0">
                <a:latin typeface="Andale Mono" panose="020B0509000000000004" pitchFamily="49" charset="0"/>
              </a:rPr>
              <a:t>Agentic Syndicate/Entropy</a:t>
            </a:r>
          </a:p>
          <a:p>
            <a:r>
              <a:rPr lang="en-DE" b="1" u="sng" dirty="0">
                <a:latin typeface="Andale Mono" panose="020B0509000000000004" pitchFamily="49" charset="0"/>
              </a:rPr>
              <a:t>Syndicate</a:t>
            </a:r>
          </a:p>
          <a:p>
            <a:r>
              <a:rPr lang="en-DE" b="1" u="sng" dirty="0">
                <a:latin typeface="Andale Mono" panose="020B0509000000000004" pitchFamily="49" charset="0"/>
              </a:rPr>
              <a:t>Quagentic</a:t>
            </a:r>
            <a:endParaRPr lang="en-DE" dirty="0"/>
          </a:p>
        </p:txBody>
      </p:sp>
    </p:spTree>
    <p:extLst>
      <p:ext uri="{BB962C8B-B14F-4D97-AF65-F5344CB8AC3E}">
        <p14:creationId xmlns:p14="http://schemas.microsoft.com/office/powerpoint/2010/main" val="4029615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TotalTime>
  <Words>814</Words>
  <Application>Microsoft Macintosh PowerPoint</Application>
  <PresentationFormat>Widescreen</PresentationFormat>
  <Paragraphs>77</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Al Nile</vt:lpstr>
      <vt:lpstr>Andale Mono</vt:lpstr>
      <vt:lpstr>Aptos</vt:lpstr>
      <vt:lpstr>Aptos Display</vt:lpstr>
      <vt:lpstr>Arial</vt:lpstr>
      <vt:lpstr>Office Theme</vt:lpstr>
      <vt:lpstr>Agentic Syndicate</vt:lpstr>
      <vt:lpstr>The first quantitative trading firm for polymarket 🇸🇳</vt:lpstr>
      <vt:lpstr>Idea</vt:lpstr>
      <vt:lpstr>BETTING</vt:lpstr>
      <vt:lpstr>Idea #2</vt:lpstr>
      <vt:lpstr>How does polymarket work?</vt:lpstr>
      <vt:lpstr>Now how do we bank on this?</vt:lpstr>
      <vt:lpstr>How we actually bank on the fact that humans only have one brain</vt:lpstr>
      <vt:lpstr>THE SWARM PRESENTED BY GAUTAM</vt:lpstr>
      <vt:lpstr>Market Opportunity </vt:lpstr>
      <vt:lpstr>Two things: backend and frontend</vt:lpstr>
      <vt:lpstr>Backend</vt:lpstr>
      <vt:lpstr>Backend Tech Stack</vt:lpstr>
      <vt:lpstr>Frontend </vt:lpstr>
      <vt:lpstr>Name ideas we had when we were sober again: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Gautam Neon</dc:creator>
  <cp:lastModifiedBy>Gautam Neon</cp:lastModifiedBy>
  <cp:revision>2</cp:revision>
  <dcterms:created xsi:type="dcterms:W3CDTF">2025-11-01T08:13:44Z</dcterms:created>
  <dcterms:modified xsi:type="dcterms:W3CDTF">2025-11-01T11:49:56Z</dcterms:modified>
</cp:coreProperties>
</file>